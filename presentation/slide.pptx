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 Bhesaniya" userId="fc7aa5398518b421" providerId="LiveId" clId="{809EC46C-D538-4B02-86ED-080029514186}"/>
    <pc:docChg chg="undo custSel modSld modMainMaster">
      <pc:chgData name="Smit Bhesaniya" userId="fc7aa5398518b421" providerId="LiveId" clId="{809EC46C-D538-4B02-86ED-080029514186}" dt="2026-09-19T09:25:20.803" v="18" actId="20577"/>
      <pc:docMkLst>
        <pc:docMk/>
      </pc:docMkLst>
      <pc:sldChg chg="modSp mod setBg">
        <pc:chgData name="Smit Bhesaniya" userId="fc7aa5398518b421" providerId="LiveId" clId="{809EC46C-D538-4B02-86ED-080029514186}" dt="2026-09-19T09:25:20.803" v="18" actId="20577"/>
        <pc:sldMkLst>
          <pc:docMk/>
          <pc:sldMk cId="0" sldId="256"/>
        </pc:sldMkLst>
        <pc:spChg chg="mod">
          <ac:chgData name="Smit Bhesaniya" userId="fc7aa5398518b421" providerId="LiveId" clId="{809EC46C-D538-4B02-86ED-080029514186}" dt="2026-09-19T09:25:20.803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7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8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9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0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1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2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3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4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5"/>
        </pc:sldMkLst>
      </pc:sldChg>
      <pc:sldMasterChg chg="setBg">
        <pc:chgData name="Smit Bhesaniya" userId="fc7aa5398518b421" providerId="LiveId" clId="{809EC46C-D538-4B02-86ED-080029514186}" dt="2026-09-15T17:22:54.902" v="0"/>
        <pc:sldMasterMkLst>
          <pc:docMk/>
          <pc:sldMasterMk cId="2209977519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🚀 PortFlow AI</a:t>
            </a:r>
          </a:p>
          <a:p>
            <a:pPr>
              <a:spcBef>
                <a:spcPts val="800"/>
              </a:spcBef>
              <a:defRPr sz="2200" b="1">
                <a:solidFill>
                  <a:srgbClr val="00B4D8"/>
                </a:solidFill>
              </a:defRPr>
            </a:pPr>
            <a:r>
              <a:t>Intelligent Port Operations &amp; Congestion Optimization Digital Twin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Autonomous 72-hour maritime congestion prediction, algorithmic berth &amp; crane scheduling, dynamic channel routing, Supabase cloud sync &amp; grounded AI Copilot.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10728655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rPr dirty="0"/>
              <a:t>👥 Team Details — Team Arjuna (AI &amp; Operations Research Track)</a:t>
            </a:r>
          </a:p>
          <a:p>
            <a:pPr>
              <a:spcAft>
                <a:spcPts val="1000"/>
              </a:spcAft>
              <a:defRPr sz="1500" b="1">
                <a:solidFill>
                  <a:srgbClr val="FFD166"/>
                </a:solidFill>
              </a:defRPr>
            </a:pPr>
            <a:r>
              <a:rPr lang="en-IN" dirty="0"/>
              <a:t>			</a:t>
            </a:r>
            <a:r>
              <a:rPr dirty="0"/>
              <a:t>Team Lead: Param Shah — Machine Learning Models &amp; Constraint Optimization Solvers</a:t>
            </a:r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rPr dirty="0"/>
              <a:t>• Param Shah (Team Lead)  —  Machine Learning Models &amp; Constraint Optimization Solver</a:t>
            </a:r>
            <a:r>
              <a:rPr lang="en-IN" dirty="0"/>
              <a:t>s</a:t>
            </a:r>
            <a:endParaRPr lang="en-US" dirty="0"/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rPr lang="en-US" dirty="0"/>
              <a:t>• Jay Ladva  —  Backend Architecture, AI Pipelines &amp; API Orchestration</a:t>
            </a:r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rPr dirty="0"/>
              <a:t>• Nishant Virani  —  React Digital Twin Web UI, GIS Visualization &amp; UX</a:t>
            </a:r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rPr dirty="0"/>
              <a:t>• Smit Bhesaniya  —  Cloud Data Infrastructure, </a:t>
            </a:r>
            <a:r>
              <a:rPr dirty="0" err="1"/>
              <a:t>Supabase</a:t>
            </a:r>
            <a:r>
              <a:rPr dirty="0"/>
              <a:t> &amp; Telemetry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🎯 Problem Statement &amp; Maritime Congestion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1. Arrival Delays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Unpredictable Vessel Delays:</a:t>
            </a:r>
            <a:br/>
            <a:r>
              <a:t>Stochastic weather disruptions, canal chokepoints &amp; transshipment bottlenecks skew scheduled arrival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2. Tidal Constraints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Hydrographic Constraints:</a:t>
            </a:r>
            <a:br/>
            <a:r>
              <a:t>Semi-diurnal tides govern Under-Keel Clearance (UKC). Low tides force ULCVs to wait offshore consuming up to 35 tons heavy fuel oil/day.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3. Manual Operations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Spreadsheet Allocation:</a:t>
            </a:r>
            <a:br/>
            <a:r>
              <a:t>Superintendents manage multi-million dollar berths &amp; STS cranes using fragmented spreadsheets and radios after gridlocks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FFD166"/>
                </a:solidFill>
              </a:defRPr>
            </a:pPr>
            <a:r>
              <a:t>💸 Economic &amp; Environmental Impact: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Lack of predictive foresight costs global maritime supply chains over $10 Billion annually in demurrage penalties and generates millions of tons of avoidable coastal greenhouse gas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💡 Solution Overview — Proactive Digital Twin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🔮 72h Predictive Engine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ML models forecast congestion (0–100) &amp; identify bottleneck drivers across 6 zones up to 72h ahead.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⚓ Priority Berth Allocator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Constraint solver assigning vessels to 12 berths, enforcing LOA, draft + 1.0m UKC &amp; cargo compatibility.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🏗️ EDF Crane Dispatcher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Allocates 7 STS gantry cranes based on departure deadlines, TEU workloads &amp; demurrage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🌊 Dynamic Channel Navigator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Dijkstra graph algorithm guiding vessels across 14 waypoints during fluctuating tide cycles (+3.4m).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🗄️ Supabase Cloud DB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Cloud PostgreSQL storing canonical vessels, berths, cranes &amp; telemetry with Row Level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🤖 Zero-Hallucination Copilot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watsonx.ai / Groq / Gemini assistant grounded in live digital twin state + offline rule engine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🛠️ Core Technical Engines &amp; Optimization Solvers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🔮 72-Hour Congestion Regressor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Scikit-learn RandomForestRegressor trained on 2,400 observations.</a:t>
            </a:r>
            <a:br/>
            <a:r>
              <a:t>• Achieves R² &gt; 0.96 continuous congestion scoring (0–100).</a:t>
            </a:r>
            <a:br/>
            <a:r>
              <a:t>• Classifies risk tiers (Low, Medium, High, Critical) across 6 operational zones.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⚓ Priority Berth Allocation Solver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Pure Python Constraint Satisfaction Solver.</a:t>
            </a:r>
            <a:br/>
            <a:r>
              <a:t>• Strict enforcement of LOA &amp; vessel draft + 1.0m UKC buffer.</a:t>
            </a:r>
            <a:br/>
            <a:r>
              <a:t>• Minimizes anchorage wait times and overall terminal vessel dwell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🏗️ Quay Crane Dispatcher (EDF)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Dynamic Earliest Deadline First (EDF) split scheduler.</a:t>
            </a:r>
            <a:br/>
            <a:r>
              <a:t>• Optimizes 7 STS Gantry Cranes based on TEU load &amp; departure deadlines.</a:t>
            </a:r>
            <a:br/>
            <a:r>
              <a:t>• Eliminates quayside idle time and prevents demurrage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🌊 Tide-Aware Channel Navigator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Graph-based Dijkstra algorithm across 14 waypoints.</a:t>
            </a:r>
            <a:br/>
            <a:r>
              <a:t>• Dynamic Under-Keel Clearance (UKC) calculation with +3.4m MHHW tides.</a:t>
            </a:r>
            <a:br/>
            <a:r>
              <a:t>• Recommends alternate maritime channels during peak basin congestion.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🤖 Zero-Hallucination AI Operations Copilot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Context-Grounded Dispatch Assistant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Zero-Hallucination Guarantee: Feeds real-time Supabase / SQLite database state directly into the LLM system prompt.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Live Numerical Grounding: Answers fleet queries, berth vacancy, crane throughput, gate queues &amp; weather advisories with exact live metrics.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Multi-Provider AI Architecture:</a:t>
            </a:r>
            <a:br/>
            <a:r>
              <a:t>  - IBM watsonx.ai (ibm/granite-3-8b-instruct)</a:t>
            </a:r>
            <a:br/>
            <a:r>
              <a:t>  - Groq Cloud (llama-3.3-70b-versatile)</a:t>
            </a:r>
            <a:br/>
            <a:r>
              <a:t>  - Google Gemini &amp; OpenRouter AI Hub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Offline Resilience: Built-in deterministic rule engine (DEMO_MODE=true) operating with zero external API dependencies.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LLM Keys &amp; Provider Configuration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Groq Cloud (Recommended): GROQ_API_KEY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(Free at console.groq.com)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IBM watsonx.ai: WATSONX_API_KEY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(Cloud IBM Granite 3 8B)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Google Gemini: GEMINI_API_KEY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(Free tier at aistudio.google.com)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OpenRouter: OPENROUTER_API_KEY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(Unified model routing)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Deterministic Offline: DEMO_MODE=true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(Zero API keys needed (Offline))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🖥️ Live Product Showcase — Oceanic Digital Twin UI</a:t>
            </a:r>
          </a:p>
        </p:txBody>
      </p:sp>
      <p:pic>
        <p:nvPicPr>
          <p:cNvPr id="3" name="Picture 2" descr="Screenshot 2026-09-15 221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498489"/>
          </a:xfrm>
          <a:prstGeom prst="rect">
            <a:avLst/>
          </a:prstGeom>
        </p:spPr>
      </p:pic>
      <p:pic>
        <p:nvPicPr>
          <p:cNvPr id="4" name="Picture 3" descr="Screenshot 2026-09-15 2225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4349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Digital Twin Operations Dashboard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Features real-time berth status (B01–B12), 7 STS quay crane monitoring, Zone A–F telemetry visualizer, Dijkstra channel waypoint navigation, interactive 72-hour Gantt master planner, and grounded AI Copilot drawer.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🗄️ Supabase Cloud Database &amp; Data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Supabase Cloud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Cloud PostgreSQL Persistence: Stores canonical vessels, berths, cranes, telemetry &amp; optimization logs.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Instant PostgREST APIs &amp; Row Level Security (RLS) policies protecting operational data.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Project URL: https://gmqrrnaktdzoigbquhsp.supabase.co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Schema &amp; Seeding: Full DDL migration in src/backend/db/supabase_schema.sql.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15 Canonical Vessels &amp; berths seeded instantly with one-click setup.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Real-time REST Sync Service: Automatic fallback to local SQLite (portflow.db) if offline.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5 Core Canonical Tables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vessels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Stores vessel LOA, draft, TEU capacity, priority status &amp; ETA/ETD.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berths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12 Deepwater berths with max draft, length, &amp; current occupancy.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cranes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7 STS Gantry Cranes with moves/hr capacity &amp; assigned berth.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zone_telemetry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Multi-zone sensor readings for 6 port zones (A–F).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optimization_logs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Audit trail of algorithmic berth &amp; crane allocation schedules.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🛠️ Tech Stack &amp; Comprehensive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Multi-Tier Technology Architecture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Frontend &amp; UI: </a:t>
            </a:r>
            <a:r>
              <a:rPr b="0">
                <a:solidFill>
                  <a:srgbClr val="FFFFFF"/>
                </a:solidFill>
              </a:rPr>
              <a:t>React 18, Vite, Vanilla CSS Design System, TailwindCSS, Lucide Icons, Canvas Digital Twin, Recharts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Backend &amp; APIs: </a:t>
            </a:r>
            <a:r>
              <a:rPr b="0">
                <a:solidFill>
                  <a:srgbClr val="FFFFFF"/>
                </a:solidFill>
              </a:rPr>
              <a:t>Python 3.11+, FastAPI, Uvicorn, Pydantic v2, RESTful Architecture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Machine Learning: </a:t>
            </a:r>
            <a:r>
              <a:rPr b="0">
                <a:solidFill>
                  <a:srgbClr val="FFFFFF"/>
                </a:solidFill>
              </a:rPr>
              <a:t>Scikit-learn (RandomForestRegressor, StandardScaler), NumPy, Pandas, Joblib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Discrete Solvers: </a:t>
            </a:r>
            <a:r>
              <a:rPr b="0">
                <a:solidFill>
                  <a:srgbClr val="FFFFFF"/>
                </a:solidFill>
              </a:rPr>
              <a:t>Pure Python Solvers, Dijkstra Graph Routing, Priority Queues, Earliest Deadline First (EDF)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Databases: </a:t>
            </a:r>
            <a:r>
              <a:rPr b="0">
                <a:solidFill>
                  <a:srgbClr val="FFFFFF"/>
                </a:solidFill>
              </a:rPr>
              <a:t>Supabase (PostgreSQL), PostgREST API, SQLAlchemy 2.0 ORM, Local SQLite (portflow.db) fallback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AI &amp; LLM Layer: </a:t>
            </a:r>
            <a:r>
              <a:rPr b="0">
                <a:solidFill>
                  <a:srgbClr val="FFFFFF"/>
                </a:solidFill>
              </a:rPr>
              <a:t>IBM watsonx.ai (Granite), Groq Cloud (Llama 3.3), Google Gemini, Deterministic Rule Engine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DevOps &amp; Container: </a:t>
            </a:r>
            <a:r>
              <a:rPr b="0">
                <a:solidFill>
                  <a:srgbClr val="FFFFFF"/>
                </a:solidFill>
              </a:rPr>
              <a:t>Docker, Docker Compose, GitHub Actions, Vercel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⚡ Quickstart &amp; Execution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4-Step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1: Clone Repository &amp; Setup Env</a:t>
            </a:r>
            <a:br/>
            <a:r>
              <a:t>  git clone ... &amp; cp .env.example .env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2: Install Dependencies &amp; Train ML Model</a:t>
            </a:r>
            <a:br/>
            <a:r>
              <a:t>  pip install -r requirements.txt</a:t>
            </a:r>
            <a:br/>
            <a:r>
              <a:t>  python ../ml/train.py &amp;&amp; python db/seed.py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3: Launch FastAPI Backend Server</a:t>
            </a:r>
            <a:br/>
            <a:r>
              <a:t>  uvicorn main:app --host 0.0.0.0 --port 8000 --reload</a:t>
            </a:r>
            <a:br/>
            <a:r>
              <a:t>  Swagger Docs: http://localhost:8000/docs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4: Launch React Operations UI</a:t>
            </a:r>
            <a:br/>
            <a:r>
              <a:t>  cd src/frontend &amp;&amp; npm install &amp;&amp; npm run dev</a:t>
            </a:r>
            <a:br/>
            <a:r>
              <a:t>  Dashboard: http://localhost:5173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🖥️ Submission Deliverables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📹 Demo Video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demo/demo-video-link.txt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🌐 Live Deployed App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demo/live-demo-url.txt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📊 Presentation Slides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presentation/slides.pdf &amp; slides.pptx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🖼️ UI Screenshots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demo/screenshots/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🗄️ Supabase Status Probe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http://localhost:8000/api/supabase/status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🏅 Quantifiable Business Impact &amp; Key Innovations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800" b="1">
                <a:solidFill>
                  <a:srgbClr val="06D6A0"/>
                </a:solidFill>
              </a:defRPr>
            </a:pPr>
            <a:r>
              <a:t>⏱️ 22% – 28%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Reduction in vessel anchorage waiting time and dwell hours.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🏗️ +18%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Increase in net quayside crane moves per hour via EDF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400" b="1">
                <a:solidFill>
                  <a:srgbClr val="FFD166"/>
                </a:solidFill>
              </a:defRPr>
            </a:pPr>
            <a:r>
              <a:t>🌿 Thousands Tons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Avoidable coastal CO2 &amp; fuel burn eliminated offshore.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What We're Most Proud Of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Zero-Hallucination AI Copilot: Real-time database injection guarantees dispatcher responses reference exact live operational facts.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Physical Safety Constraints: Solvers strictly enforce LOA, berth depth, and draft + 1.0m Under-Keel Clearance (UKC) safety margins.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Multi-Provider AI Architecture: Full flexibility across IBM watsonx.ai, Groq, Google Gemini, and offline deterministic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1525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Smit Bhesaniya</cp:lastModifiedBy>
  <cp:revision>1</cp:revision>
  <dcterms:created xsi:type="dcterms:W3CDTF">2013-01-27T09:14:16Z</dcterms:created>
  <dcterms:modified xsi:type="dcterms:W3CDTF">2026-09-19T09:25:25Z</dcterms:modified>
  <cp:category/>
</cp:coreProperties>
</file>